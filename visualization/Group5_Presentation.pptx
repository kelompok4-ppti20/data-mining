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E6E81"/>
                </a:solidFill>
                <a:latin typeface="Arial"/>
              </a:rPr>
              <a:t>Churn rate by age band (baseline 20.4%)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42B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Aged 46–60</c:v>
                  </c:pt>
                  <c:pt idx="1">
                    <c:v>Everyone else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51.1</c:v>
                </c:pt>
                <c:pt idx="1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D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E6E81"/>
                </a:solidFill>
                <a:latin typeface="Arial"/>
              </a:rPr>
              <a:t>Churn rate by market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D355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France</c:v>
                  </c:pt>
                  <c:pt idx="1">
                    <c:v>Germany</c:v>
                  </c:pt>
                  <c:pt idx="2">
                    <c:v>Spain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16.2</c:v>
                </c:pt>
                <c:pt idx="1">
                  <c:v>32.4</c:v>
                </c:pt>
                <c:pt idx="2">
                  <c:v>16.7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D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E6E81"/>
                </a:solidFill>
                <a:latin typeface="Arial"/>
              </a:rPr>
              <a:t>Churn by products held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 product</c:v>
                  </c:pt>
                  <c:pt idx="1">
                    <c:v>2 products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27.7</c:v>
                </c:pt>
                <c:pt idx="1">
                  <c:v>7.6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D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(0:00–0:30, Insight Communicator) Good morning. One in five customers of this bank closes their account. That number is printed in the raw data — but it is not knowledge. For fourteen weeks, our group treated this file as a discovery problem, not a prediction contest. Today we show you four things hidden under that 20% — each one invisible in a column average, and each one actionable. [ADVANCE]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(0:30–1:15, Insight Communicator) The dataset: ten thousand customers, three markets, fourteen attributes each — balances, products, activity, demographics — and a label saying who left. The brief was explicit: this is knowledge discovery, not a churn-prediction benchmark. So our question for every result was not "how accurate," but "is this something the bank did not already know, and can someone act on it Monday morning?"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(1:15–2:00, Data Engineer) Quickly, the method. We cleaned and scaled the data, and — important for everything that follows — translated continuous values into named bands a banker would recognise: "age 46 to 60", "balance 50 to 125 thousand". Then three independent clustering algorithms, association-rule mining with Apriori, and an anomaly audit using four detectors that cross-check each other. Churn was never a target to optimise — it was the lens for interpreting what the unsupervised methods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(2:00–3:00, Segmentation Specialist) All three clustering algorithms converged on the same three-segment story. C0, a third of the book: modest balances, nearly two products each, mostly France and Spain — our most loyal group. C1 and C2 are where the money is: hundred-thousand-pound average balances, but barely more than one product, heavily German, churning above baseline. C2 has been with the bank seven and a half years yet is the least active segment. Two-thirds of the deposits sit in the two least anchored groups. Honest caveat: these are working personas, statistically soft at the edges — we validated them across K-Means, hierarchical and DBSCAN before trusting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(3:00–4:00, Pattern Analyst) Discovery one. Customers aged 46 to 60 churn at fifty-one percent — everyone else at fourteen. And the rule mining sharpens it: when that age band is also inactive and holds a single product, churn reaches seventy-seven percent — nearly four times baseline, on a segment of four hundred customers. This is the consolidation window: people simplifying their finances before retirement, deciding which bank keeps the money. The over-60s, interestingly, are not a risk group. A dashboard average of churn-by-age would never show you this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(4:00–4:50, Pattern Analyst) Discovery two: Germany. Thirty-two percent churn — double the other two markets — and the effect survives every control. German mid-lifers churn at sixty-seven percent with no other condition. Nearly half of the high-balance losses are German accounts. When one market misbehaves across all segments simultaneously, the customers are not the problem — the offer is. Something about pricing, service or product fit in the German operation is pushing people out, and that is a strategic finding no per-customer model would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(4:50–5:40, Segmentation Specialist) Discovery three flips the bank's instinct. Rank customers by deposits and the loyal ones come last: six thousand pounds average, but nearly two products, sixteen percent churn. The wealthy passive segment: hundred-twenty thousand pounds, one-point-three products, twenty-three percent churn. The mechanism is product depth — one-product customers churn at twenty-eight percent, two-product customers at eight. If management dashboards rank customers by balance, they are ranking by exactly the wrong loyalty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(5:40–6:30, Data Engineer) Discovery four comes from the anomaly audit. Two detectors built on completely different logic — Isolation Forest isolates odd attribute combinations, DBSCAN finds customers far from every segment — flagged overlapping groups, and both groups churn at roughly two and a half times baseline. Strangeness in this book is churn-shaped. Inside that population: five hundred ninety-two churned accounts above the seventy-fifth balance percentile, averaging a hundred and fifty thousand pounds each. The data is a snapshot, so we cannot watch balances fall — but these closed, unusually-shaped, high-balance accounts are the footprint such departures leave. Every flagged record was classified: two data errors, five hundred eighty-three rare-but-legitimate, four hundred sixty-nine risk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(6:30–7:15, Pattern Analyst) The rule network reads left to right: customer traits on the rim, every line ending at "churned". Thirteen rules cleared our thresholds; the full ranked table with support, confidence and lift for each is in the written report. Notice what repeats: age forty-six to sixty appears in nearly every strong rule, compounding with inactivity, single products, Germany, or the mid-balance band. One surprise worth naming: holding a credit card does not protect a shallow relationship — card-holding mid-lifers with one product still churn at sixty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(7:15–8:00, Insight Communicator — switch to live demo if time allows) Everything we have shown is explorable in the dashboard. Five tabs: the discovery answer, the cluster map you see here, the rule network with a lift slider, the anomaly views with method toggles, and per-market distributions. Every figure is precomputed and cached, so each click responds in well under a hundred milliseconds — the rubric bar. Two commands start it on any machine with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(8:00–8:50, Insight Communicator) The point of discovery is action, so here is Monday morning. One: pre-emptive calls into the mid-life cliff — that profile churns at seventy-seven percent, so outreach there has four times the hit rate. Two: a German market review — benchmark the offer, not the customers. Three: cross-sell as a retention tool, not a revenue tool. Four: wire the anomaly flags to relationship managers for high-balance accounts. Five: change the loyalty KPI — balance flatters exactly the wrong customers. Each action traces to one discovery and one number you have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(8:50–10:00, whole group on stage) So, the central question. [Read the four answers.] None of these is visible in a column average — that is the difference between data and knowledge. Thank you — questions.
EXPO Q&amp;A PREP — Q1 Most surprising rule: Senior+Germany→churn, 67% with no other condition (also: credit cards do not anchor). Q2 Most interpretable clustering: K-Means at K=3 — silhouette peaks at K=2 but K=2 collapses business meaning; Ward agreed (ARI 0.37), DBSCAN contributed the outlier lens. Q3 Anomalies: 1,054 flagged, classified 2 data errors / 583 rare-valid / 469 risk signals; headline: 592 high-balance churners at £149.8K average, 46% German. Q4 Cross-group contrast: fraud groups (3/8) hunt transaction-level point anomalies; our churn signals are relationship-level interactions (age × products × activity) — same banking data, different granularity of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D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· DATA MINING · KDD PHASES 1–5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Bank Quietly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Loses Its Customers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discovery in a 10,000-customer retail-banking book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· France · Germany · Spain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number sits on the surface. The knowledge is underneath.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across France,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and Spain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20.4%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their account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obvious fact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2514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customer: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behaviour, money, geography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8138160" cy="960120"/>
          </a:xfrm>
          <a:prstGeom prst="rect">
            <a:avLst/>
          </a:prstGeom>
          <a:solidFill>
            <a:srgbClr val="E8EF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657600"/>
            <a:ext cx="64008" cy="960120"/>
          </a:xfrm>
          <a:prstGeom prst="rect">
            <a:avLst/>
          </a:prstGeom>
          <a:solidFill>
            <a:srgbClr val="C42B2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we discover that was not already obvious from the raw data?”  </a:t>
            </a:r>
            <a:pPr indent="0" marL="0">
              <a:buNone/>
            </a:pPr>
            <a:r>
              <a:rPr lang="en-US" sz="14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 is graded on discovery and interpretation — not model accuracy.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connected KDD pipeline, five phases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0936" y="28529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scale, translate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into named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bands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03704" y="16002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40864" y="1783080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2340864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31720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331720" y="28529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clustering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find natural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04488" y="16002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41648" y="1783080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40416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32504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rules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32504" y="28529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finds attribute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 that travel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churn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05272" y="16002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42432" y="1783080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574243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33288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anomalies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733288" y="28529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detectors flag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unusual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06056" y="1600200"/>
            <a:ext cx="151790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43216" y="1783080"/>
            <a:ext cx="475488" cy="475488"/>
          </a:xfrm>
          <a:prstGeom prst="ellipse">
            <a:avLst/>
          </a:prstGeom>
          <a:solidFill>
            <a:srgbClr val="C4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7443216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34072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34072" y="28529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this talk,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plain-language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never a training target — it is the lens we hold up to every pattern afterwards.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customers, not 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514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81328"/>
            <a:ext cx="2514600" cy="14630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7556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— The Engaged Loyalists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3,735 (37%)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25054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15.7%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2706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30723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£6,214 avg balance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 products held · 2% German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France/Spain; little money,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relationship — they stay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481328"/>
            <a:ext cx="2514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81328"/>
            <a:ext cx="2514600" cy="14630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7556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The Wealthy Watchlist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3,161 (32%)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6432" y="25054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23.6%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2706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6432" y="30723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£115,296 avg balance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 products held · 38% German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56432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relationships (2.3 yrs);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money, one product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481328"/>
            <a:ext cx="2514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81328"/>
            <a:ext cx="2514600" cy="146304"/>
          </a:xfrm>
          <a:prstGeom prst="rect">
            <a:avLst/>
          </a:prstGeom>
          <a:solidFill>
            <a:srgbClr val="6D597A"/>
          </a:solidFill>
          <a:ln/>
        </p:spPr>
      </p:sp>
      <p:sp>
        <p:nvSpPr>
          <p:cNvPr id="22" name="Text 20"/>
          <p:cNvSpPr/>
          <p:nvPr/>
        </p:nvSpPr>
        <p:spPr>
          <a:xfrm>
            <a:off x="6245352" y="17556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The Passive Holders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45352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3,104 (31%)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45352" y="25054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22.8%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406640" y="2706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45352" y="30723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£121,520 avg balance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products held · 40% German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45352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tenure (7.5 yrs) but least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group — money parked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mid-life churn cliff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77.3%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02920" y="2670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inactive, single-product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46–60  (lift 3.8×)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alone is not the story — over-60s are fine. It is the interaction of mid-life age, inactivity and shallow product holdings that makes leaving almost certain. No single column shows this.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206240" y="1554480"/>
          <a:ext cx="44348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 is a structural problem, not a customer problem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44348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257800" y="15544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37960" y="157276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churn rate of France and Spain — across every segment, age band and product count we sliced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57800" y="26060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67.3%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37960" y="262432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German customers aged 46–60, with no other condition attached (lift 3.3×)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5780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46.3%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537960" y="3675888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high-balance churners are German — half the most expensive losses from a quarter of the book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Engagement, not balance, is what anchors a customer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2121408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loyalists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£6,214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67512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balance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 products each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 churn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1214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554480"/>
            <a:ext cx="2121408" cy="128016"/>
          </a:xfrm>
          <a:prstGeom prst="rect">
            <a:avLst/>
          </a:prstGeom>
          <a:solidFill>
            <a:srgbClr val="6D597A"/>
          </a:solidFill>
          <a:ln/>
        </p:spPr>
      </p:sp>
      <p:sp>
        <p:nvSpPr>
          <p:cNvPr id="11" name="Text 9"/>
          <p:cNvSpPr/>
          <p:nvPr/>
        </p:nvSpPr>
        <p:spPr>
          <a:xfrm>
            <a:off x="2953512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passive rich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53512" y="210312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5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£121,520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953512" y="2697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balance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products each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 churn</a:t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120640" y="1554480"/>
          <a:ext cx="3520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product is not extra revenue — it is a retention anchor. Balance measures parked money; products measure how much of a financial life has moved in.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High-value money leaves quietly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592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331720" y="161848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high-balance churners found in the anomaly audit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5968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£149,755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331720" y="2642616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balance walking out per account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210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49–52%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331720" y="3666744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structural outliers — 2.5× baseline, confirmed by two independent detectors</a:t>
            </a:r>
            <a:endParaRPr lang="en-US" sz="1100" dirty="0"/>
          </a:p>
        </p:txBody>
      </p:sp>
      <p:pic>
        <p:nvPicPr>
          <p:cNvPr id="10" name="Image 0" descr="/sessions/nifty-dazzling-ride/mnt/Project_DATAMINING/visualization/assets/previews/outlier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554480"/>
            <a:ext cx="4526280" cy="23134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3931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Isolation-Forest anomaly score vs balance: flagged churners (red) cluster among high balances with unusual profiles.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rulebook the branch can read</a:t>
            </a:r>
            <a:endParaRPr lang="en-US" sz="2700" dirty="0"/>
          </a:p>
        </p:txBody>
      </p:sp>
      <p:pic>
        <p:nvPicPr>
          <p:cNvPr id="4" name="Image 0" descr="/sessions/nifty-dazzling-ride/mnt/Project_DATAMINING/visualization/assets/previews/rule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4572000" cy="2615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rules at ≥1.5× lift — every line ends at “churned”. Diamond size = customers covered; line width = lift.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394960" y="1554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rules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94960" y="196596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32120" y="20574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+ 46–60 + single product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26680" y="20391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2668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3.8×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283464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32120" y="2926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46–60 + Germany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26680" y="29077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26680" y="3236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3.3×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370332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63500" dist="25400" dir="8100000">
              <a:srgbClr val="9AA8B8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32120" y="3794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46–60 + single product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26680" y="37764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26680" y="4105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3.0×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DELIVERABLE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it yourself — the live dashboard</a:t>
            </a:r>
            <a:endParaRPr lang="en-US" sz="2700" dirty="0"/>
          </a:p>
        </p:txBody>
      </p:sp>
      <p:pic>
        <p:nvPicPr>
          <p:cNvPr id="4" name="Image 0" descr="/sessions/nifty-dazzling-ride/mnt/Project_DATAMINING/visualization/assets/previews/cluste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4572000" cy="2615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FAMD cluster map — one of five interactive views (segments, rules, anomalies, distributions, discovery).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394960" y="157276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Dash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linked views: discovery cards, cluster maps, the rule network, outlier plots, and market distributions.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39496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&lt;100 ms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949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— all views are precomputed, memoized and pre-warmed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3977640"/>
            <a:ext cx="3246120" cy="566928"/>
          </a:xfrm>
          <a:prstGeom prst="rect">
            <a:avLst/>
          </a:prstGeom>
          <a:solidFill>
            <a:srgbClr val="E8EFF7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4059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prepare_data.py  →  python app.py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do Monday morning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57200" cy="457200"/>
          </a:xfrm>
          <a:prstGeom prst="rect">
            <a:avLst/>
          </a:prstGeom>
          <a:solidFill>
            <a:srgbClr val="C42B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904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cliff   </a:t>
            </a:r>
            <a:pPr indent="0" marL="0"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call when a 46–60, single-product customer goes inactive one quarter — 4× the hit rate of random outreach.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572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1579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Germany   </a:t>
            </a:r>
            <a:pPr indent="0" marL="0"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German fees, rates and service — treat 32% churn as a market problem, protecting half the high-value losses.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16352"/>
            <a:ext cx="4572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8254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to anchor   </a:t>
            </a:r>
            <a:pPr indent="0" marL="0"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Second-product offers for single-product holders: the 27.7% → 7.6% churn gap is the biggest controllable lever.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4572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4930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anomaly alerts   </a:t>
            </a:r>
            <a:pPr indent="0" marL="0"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High-balance account + structural-anomaly flag → relationship-manager review. Past losses here: £149,755 each.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4572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160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loyalty KPI   </a:t>
            </a:r>
            <a:pPr indent="0" marL="0">
              <a:buNone/>
            </a:pPr>
            <a:r>
              <a:rPr lang="en-US" sz="125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relationship depth (products, activity) beside balance — balance flatters the segments most likely to leave.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41080" y="4773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did we discover that was not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obvious from the raw data?”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77240" y="1719072"/>
            <a:ext cx="384048" cy="384048"/>
          </a:xfrm>
          <a:prstGeom prst="ellipse">
            <a:avLst/>
          </a:prstGeom>
          <a:solidFill>
            <a:srgbClr val="C42B2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concentrates in a mid-life window (46–60) and multiplies with shallow engagement — up to 77%.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384048" cy="384048"/>
          </a:xfrm>
          <a:prstGeom prst="ellipse">
            <a:avLst/>
          </a:prstGeom>
          <a:solidFill>
            <a:srgbClr val="C42B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churns at double rate across every segment at once: a market problem, not a customer problem.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035808"/>
            <a:ext cx="384048" cy="384048"/>
          </a:xfrm>
          <a:prstGeom prst="ellipse">
            <a:avLst/>
          </a:prstGeom>
          <a:solidFill>
            <a:srgbClr val="C42B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00837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depth, not balance, anchors customers — the poorest segment is the most loyal.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694176"/>
            <a:ext cx="384048" cy="384048"/>
          </a:xfrm>
          <a:prstGeom prst="ellipse">
            <a:avLst/>
          </a:prstGeom>
          <a:solidFill>
            <a:srgbClr val="C4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66674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costliest churn hides among structurally unusual high-balance accounts two detectors can flag early.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visible in a column average. That is the difference between data and knowledge.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the Bank Quietly Loses Its Customers</dc:title>
  <dc:subject>PptxGenJS Presentation</dc:subject>
  <dc:creator>Group 5</dc:creator>
  <cp:lastModifiedBy>Group 5</cp:lastModifiedBy>
  <cp:revision>1</cp:revision>
  <dcterms:created xsi:type="dcterms:W3CDTF">2026-06-10T06:56:35Z</dcterms:created>
  <dcterms:modified xsi:type="dcterms:W3CDTF">2026-06-10T06:56:35Z</dcterms:modified>
</cp:coreProperties>
</file>